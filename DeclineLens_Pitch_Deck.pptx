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rate (%)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1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Under 30</c:v>
                  </c:pt>
                  <c:pt idx="1">
                    <c:v>30-44</c:v>
                  </c:pt>
                  <c:pt idx="2">
                    <c:v>45+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55.4</c:v>
                </c:pt>
                <c:pt idx="1">
                  <c:v>68.3</c:v>
                </c:pt>
                <c:pt idx="2">
                  <c:v>79.4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Declined with no path to approval (%)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1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Under 30</c:v>
                  </c:pt>
                  <c:pt idx="1">
                    <c:v>30-44</c:v>
                  </c:pt>
                  <c:pt idx="2">
                    <c:v>45+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27.4</c:v>
                </c:pt>
                <c:pt idx="1">
                  <c:v>21.1</c:v>
                </c:pt>
                <c:pt idx="2">
                  <c:v>14.5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1B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1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8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1B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track itself lists 'explaining a declined application to a customer' as a problem. We solve it at scale and add a fairness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sql/04_recourse.sql here. Figures: 203 plans, about 100k declined at 200k-applicant scale gives ~20M evaluations (our 200k run gave 14M).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DeclineLens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EC4B6"/>
                </a:solidFill>
              </a:rPr>
              <a:t>Every declined applicant gets the reasons and the cheapest path to yes, computed inside Exasol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DE6"/>
                </a:solidFill>
              </a:rPr>
              <a:t>ExaThon India 2026  |  Track 01: Money, Risk &amp; Regulation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Declined, and no idea why</a:t>
            </a:r>
            <a:endParaRPr lang="en-US" sz="3400" dirty="0"/>
          </a:p>
        </p:txBody>
      </p:sp>
      <p:sp>
        <p:nvSpPr>
          <p:cNvPr id="3" name="Card0"/>
          <p:cNvSpPr/>
          <p:nvPr/>
        </p:nvSpPr>
        <p:spPr>
          <a:xfrm>
            <a:off x="548640" y="137160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1F0F8"/>
          </a:solidFill>
          <a:ln w="12700">
            <a:solidFill>
              <a:srgbClr val="F1F0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3716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3A"/>
                </a:solidFill>
              </a:rPr>
              <a:t>Hear "no" with no usable reason and no idea what to change</a:t>
            </a:r>
            <a:endParaRPr lang="en-US" sz="1600" dirty="0"/>
          </a:p>
        </p:txBody>
      </p:sp>
      <p:sp>
        <p:nvSpPr>
          <p:cNvPr id="6" name="Card1"/>
          <p:cNvSpPr/>
          <p:nvPr/>
        </p:nvSpPr>
        <p:spPr>
          <a:xfrm>
            <a:off x="548640" y="242316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1F0F8"/>
          </a:solidFill>
          <a:ln w="12700">
            <a:solidFill>
              <a:srgbClr val="F1F0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Lenders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4231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3A"/>
                </a:solidFill>
              </a:rPr>
              <a:t>Must explain decisions and keep an audit trail, one case at a time</a:t>
            </a:r>
            <a:endParaRPr lang="en-US" sz="1600" dirty="0"/>
          </a:p>
        </p:txBody>
      </p:sp>
      <p:sp>
        <p:nvSpPr>
          <p:cNvPr id="9" name="Card2"/>
          <p:cNvSpPr/>
          <p:nvPr/>
        </p:nvSpPr>
        <p:spPr>
          <a:xfrm>
            <a:off x="548640" y="347472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1F0F8"/>
          </a:solidFill>
          <a:ln w="12700">
            <a:solidFill>
              <a:srgbClr val="F1F0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347472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3A"/>
                </a:solidFill>
              </a:rPr>
              <a:t>Check approval rates, but not whether recovering from a decline is equally hard for everyone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outputs for every applicant</a:t>
            </a:r>
            <a:endParaRPr lang="en-US" sz="3400" dirty="0"/>
          </a:p>
        </p:txBody>
      </p:sp>
      <p:sp>
        <p:nvSpPr>
          <p:cNvPr id="3" name="Out0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1F0F8"/>
          </a:solidFill>
          <a:ln w="12700">
            <a:solidFill>
              <a:srgbClr val="F1F0F8"/>
            </a:solidFill>
            <a:prstDash val="solid"/>
          </a:ln>
        </p:spPr>
      </p:sp>
      <p:sp>
        <p:nvSpPr>
          <p:cNvPr id="4" name="Num0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3A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54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870"/>
                </a:solidFill>
              </a:rPr>
              <a:t>Transparent logistic model, one SQL expression</a:t>
            </a:r>
            <a:endParaRPr lang="en-US" sz="1400" dirty="0"/>
          </a:p>
        </p:txBody>
      </p:sp>
      <p:sp>
        <p:nvSpPr>
          <p:cNvPr id="8" name="Out1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1F0F8"/>
          </a:solidFill>
          <a:ln w="12700">
            <a:solidFill>
              <a:srgbClr val="F1F0F8"/>
            </a:solidFill>
            <a:prstDash val="solid"/>
          </a:ln>
        </p:spPr>
      </p:sp>
      <p:sp>
        <p:nvSpPr>
          <p:cNvPr id="9" name="Num1"/>
          <p:cNvSpPr/>
          <p:nvPr/>
        </p:nvSpPr>
        <p:spPr>
          <a:xfrm>
            <a:off x="4892040" y="164592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3A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554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reasons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2011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870"/>
                </a:solidFill>
              </a:rPr>
              <a:t>Exact contribution vs the average approved applicant</a:t>
            </a:r>
            <a:endParaRPr lang="en-US" sz="1400" dirty="0"/>
          </a:p>
        </p:txBody>
      </p:sp>
      <p:sp>
        <p:nvSpPr>
          <p:cNvPr id="13" name="Out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4" name="Num2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3A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154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yes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DE6"/>
                </a:solidFill>
              </a:rPr>
              <a:t>Cheapest tested change that flips the decision</a:t>
            </a:r>
            <a:endParaRPr lang="en-US" sz="1400" dirty="0"/>
          </a:p>
        </p:txBody>
      </p:sp>
      <p:sp>
        <p:nvSpPr>
          <p:cNvPr id="18" name="Out3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1F0F8"/>
          </a:solidFill>
          <a:ln w="12700">
            <a:solidFill>
              <a:srgbClr val="F1F0F8"/>
            </a:solidFill>
            <a:prstDash val="solid"/>
          </a:ln>
        </p:spPr>
      </p:sp>
      <p:sp>
        <p:nvSpPr>
          <p:cNvPr id="19" name="Num3"/>
          <p:cNvSpPr/>
          <p:nvPr/>
        </p:nvSpPr>
        <p:spPr>
          <a:xfrm>
            <a:off x="4892040" y="324612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3A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154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audit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870"/>
                </a:solidFill>
              </a:rPr>
              <a:t>Who is approved, and who is left with no path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SQL statement, millions of what-ifs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candidate plans per applicant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5544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2A541"/>
                </a:solidFill>
              </a:rPr>
              <a:t>x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declined applicants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20M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re-scored scenarios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4F5"/>
                </a:solidFill>
              </a:rPr>
              <a:t>CROSS JOIN applicants x plans, re-score with the model, keep the three cheapest plans that flip the decision (ROW_NUMBER). Scoring, ranking and audit all run in Exasol; Python only loads and displays.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finds who gets left behind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"/>
          <p:cNvSpPr/>
          <p:nvPr/>
        </p:nvSpPr>
        <p:spPr>
          <a:xfrm>
            <a:off x="5852160" y="137160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F1F0F8"/>
          </a:solidFill>
          <a:ln w="12700">
            <a:solidFill>
              <a:srgbClr val="F1F0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508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331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</a:rPr>
              <a:t>impact ratio for applicants under 30, below the 0.8 screen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3200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870"/>
                </a:solidFill>
              </a:rPr>
              <a:t>Gender is never a model input and its gap stays small. Thin-file applicants are disadvantaged through proxy features. Synthetic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against a brute-force oracle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correctness tests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declined applicants checked against brute force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69M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what-ifs in the largest benchmark run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CDE6"/>
                </a:solidFill>
              </a:rPr>
              <a:t>SQL scores equal an independent Python version, and the cheapest plan the database returns matches an exhaustive search. Benchmark figures are from the local stand-in; regenerate on Exasol with the bench command.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"declined" to a path forward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B3A"/>
                </a:solidFill>
              </a:rPr>
              <a:t>Reasons and a tested route to approval for every applicant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B3A"/>
                </a:solidFill>
              </a:rPr>
              <a:t>A fairness check that measures recourse, not only approvals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B3A"/>
                </a:solidFill>
              </a:rPr>
              <a:t>Open source (MIT), all SQL, reproducible from one run guide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B3A"/>
                </a:solidFill>
              </a:rPr>
              <a:t>Next: richer models via UDFs, LLM-polished letters, live policy tuning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DeclineLens: every decline explained, every path tested.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lineLens">
  <a:themeElements>
    <a:clrScheme name="DeclineLens">
      <a:dk1>
        <a:srgbClr val="1E1B3A"/>
      </a:dk1>
      <a:lt1>
        <a:srgbClr val="FFFFFF"/>
      </a:lt1>
      <a:dk2>
        <a:srgbClr val="2B2759"/>
      </a:dk2>
      <a:lt2>
        <a:srgbClr val="F1F0F8"/>
      </a:lt2>
      <a:accent1>
        <a:srgbClr val="2EC4B6"/>
      </a:accent1>
      <a:accent2>
        <a:srgbClr val="F2A541"/>
      </a:accent2>
      <a:accent3>
        <a:srgbClr val="E4572E"/>
      </a:accent3>
      <a:accent4>
        <a:srgbClr val="6C63C7"/>
      </a:accent4>
      <a:accent5>
        <a:srgbClr val="7A7894"/>
      </a:accent5>
      <a:accent6>
        <a:srgbClr val="9BE3DB"/>
      </a:accent6>
      <a:hlink>
        <a:srgbClr val="2EC4B6"/>
      </a:hlink>
      <a:folHlink>
        <a:srgbClr val="7A7894"/>
      </a:folHlink>
    </a:clrScheme>
    <a:fontScheme name="DeclineLen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DeclineLens</dc:title>
  <dc:subject>PptxGenJS Presentation</dc:subject>
  <dc:creator>PptxGenJS</dc:creator>
  <cp:lastModifiedBy>PptxGenJS</cp:lastModifiedBy>
  <cp:revision>1</cp:revision>
  <dcterms:created xsi:type="dcterms:W3CDTF">2026-10-28T10:33:22Z</dcterms:created>
  <dcterms:modified xsi:type="dcterms:W3CDTF">2026-10-28T10:33:22Z</dcterms:modified>
</cp:coreProperties>
</file>